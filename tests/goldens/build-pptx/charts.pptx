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S1</c:v>
                </c:pt>
              </c:strCache>
            </c:strRef>
          </c:tx>
          <c:spPr>
            <a:solidFill>
              <a:srgbClr val="8B1A1A"/>
            </a:solidFill>
          </c:spPr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8B1A1A"/>
            </a:solidFill>
          </c:spPr>
          <c:dPt>
            <c:idx val="0"/>
            <c:spPr>
              <a:solidFill>
                <a:srgbClr val="8B1A1A"/>
              </a:solidFill>
            </c:spPr>
          </c:dPt>
          <c:dPt>
            <c:idx val="1"/>
            <c:spPr>
              <a:solidFill>
                <a:srgbClr val="E8A0A0"/>
              </a:solidFill>
            </c:spPr>
          </c:dPt>
          <c:cat>
            <c:strRef>
              <c:f>Sheet1!$A$2:$A$3</c:f>
              <c:strCache>
                <c:ptCount val="2"/>
                <c:pt idx="0">
                  <c:v>A</c:v>
                </c:pt>
                <c:pt idx="1">
                  <c:v>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>
          <a:solidFill>
            <a:srgbClr val="1A1A1A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Динамика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2FE7C4"/>
            </a:solidFill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1.5</c:v>
                </c:pt>
                <c:pt idx="1">
                  <c:v>2.5</c:v>
                </c:pt>
                <c:pt idx="2">
                  <c:v>3.25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Расходы</c:v>
                </c:pt>
              </c:strCache>
            </c:strRef>
          </c:tx>
          <c:spPr>
            <a:solidFill>
              <a:srgbClr val="F59E0B"/>
            </a:solidFill>
          </c:spPr>
          <c:marker>
            <c:symbol val="none"/>
          </c:marker>
          <c:cat>
            <c:strRef>
              <c:f>Sheet1!$A$2:$A$4</c:f>
              <c:strCache>
                <c:ptCount val="3"/>
                <c:pt idx="0">
                  <c:v>Янв</c:v>
                </c:pt>
                <c:pt idx="1">
                  <c:v>Фев</c:v>
                </c:pt>
                <c:pt idx="2">
                  <c:v>Мар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2.0</c:v>
                </c:pt>
                <c:pt idx="1">
                  <c:v>1.0</c:v>
                </c:pt>
                <c:pt idx="2">
                  <c:v>4.5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>
          <a:solidFill>
            <a:srgbClr val="FFFFFF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Ряд 1</c:v>
                </c:pt>
              </c:strCache>
            </c:strRef>
          </c:tx>
          <c:spPr>
            <a:solidFill>
              <a:srgbClr val="2FE7C4"/>
            </a:solidFill>
          </c:spPr>
          <c:dPt>
            <c:idx val="0"/>
            <c:spPr>
              <a:solidFill>
                <a:srgbClr val="2FE7C4"/>
              </a:solidFill>
            </c:spPr>
          </c:dPt>
          <c:dPt>
            <c:idx val="1"/>
            <c:spPr>
              <a:solidFill>
                <a:srgbClr val="F59E0B"/>
              </a:solidFill>
            </c:spPr>
          </c:dPt>
          <c:dPt>
            <c:idx val="2"/>
            <c:spPr>
              <a:solidFill>
                <a:srgbClr val="8B1A1A"/>
              </a:solidFill>
            </c:spPr>
          </c:dPt>
          <c:cat>
            <c:strRef>
              <c:f>Sheet1!$A$2:$A$4</c:f>
              <c:strCache>
                <c:ptCount val="3"/>
                <c:pt idx="0">
                  <c:v>X</c:v>
                </c:pt>
                <c:pt idx="1">
                  <c:v>Y</c:v>
                </c:pt>
                <c:pt idx="2">
                  <c:v>Z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45</c:v>
                </c:pt>
                <c:pt idx="2">
                  <c:v>25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>
          <a:solidFill>
            <a:srgbClr val="FFFFFF"/>
          </a:solidFill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ch" descr="gid:1:0"/>
          <p:cNvGraphicFramePr>
            <a:graphicFrameLocks noGrp="1"/>
          </p:cNvGraphicFramePr>
          <p:nvPr/>
        </p:nvGraphicFramePr>
        <p:xfrm>
          <a:off x="571500" y="857250"/>
          <a:ext cx="53340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pi" descr="gid:1:1"/>
          <p:cNvGraphicFramePr>
            <a:graphicFrameLocks noGrp="1"/>
          </p:cNvGraphicFramePr>
          <p:nvPr/>
        </p:nvGraphicFramePr>
        <p:xfrm>
          <a:off x="6286500" y="857250"/>
          <a:ext cx="5334000" cy="2857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ln" descr="gid:2:0"/>
          <p:cNvGraphicFramePr>
            <a:graphicFrameLocks noGrp="1"/>
          </p:cNvGraphicFramePr>
          <p:nvPr/>
        </p:nvGraphicFramePr>
        <p:xfrm>
          <a:off x="571500" y="857250"/>
          <a:ext cx="110490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3" name="dn" descr="gid:2:1"/>
          <p:cNvGraphicFramePr>
            <a:graphicFrameLocks noGrp="1"/>
          </p:cNvGraphicFramePr>
          <p:nvPr/>
        </p:nvGraphicFramePr>
        <p:xfrm>
          <a:off x="571500" y="4000500"/>
          <a:ext cx="11049000" cy="24765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