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Температурная аномалия, °F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Аномалия, °F</c:v>
                </c:pt>
              </c:strCache>
            </c:strRef>
          </c:tx>
          <c:spPr>
            <a:solidFill>
              <a:srgbClr val="62ECFF"/>
            </a:solidFill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1.02</c:v>
                </c:pt>
                <c:pt idx="1">
                  <c:v>0.9</c:v>
                </c:pt>
                <c:pt idx="2">
                  <c:v>1.01</c:v>
                </c:pt>
                <c:pt idx="3">
                  <c:v>0.99</c:v>
                </c:pt>
                <c:pt idx="4">
                  <c:v>0.82</c:v>
                </c:pt>
                <c:pt idx="5">
                  <c:v>0.92</c:v>
                </c:pt>
                <c:pt idx="6">
                  <c:v>1.07</c:v>
                </c:pt>
                <c:pt idx="7">
                  <c:v>0.94</c:v>
                </c:pt>
                <c:pt idx="8">
                  <c:v>0.94</c:v>
                </c:pt>
                <c:pt idx="9">
                  <c:v>1.19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Выбросы GHG, MMT CO₂e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Выбросы GHG</c:v>
                </c:pt>
              </c:strCache>
            </c:strRef>
          </c:tx>
          <c:spPr>
            <a:solidFill>
              <a:srgbClr val="56FF71"/>
            </a:solidFill>
          </c:spP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6565</c:v>
                </c:pt>
                <c:pt idx="1">
                  <c:v>6540</c:v>
                </c:pt>
                <c:pt idx="2">
                  <c:v>6470</c:v>
                </c:pt>
                <c:pt idx="3">
                  <c:v>6495</c:v>
                </c:pt>
                <c:pt idx="4">
                  <c:v>6280</c:v>
                </c:pt>
                <c:pt idx="5">
                  <c:v>6220</c:v>
                </c:pt>
                <c:pt idx="6">
                  <c:v>6080</c:v>
                </c:pt>
                <c:pt idx="7">
                  <c:v>5810</c:v>
                </c:pt>
                <c:pt idx="8">
                  <c:v>5740</c:v>
                </c:pt>
                <c:pt idx="9">
                  <c:v>5700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Экстремальные события, шт.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События</c:v>
                </c:pt>
              </c:strCache>
            </c:strRef>
          </c:tx>
          <c:spPr>
            <a:solidFill>
              <a:srgbClr val="FF3256"/>
            </a:solidFill>
          </c:spP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</c:v>
                </c:pt>
                <c:pt idx="1">
                  <c:v>22</c:v>
                </c:pt>
                <c:pt idx="2">
                  <c:v>14</c:v>
                </c:pt>
                <c:pt idx="3">
                  <c:v>22</c:v>
                </c:pt>
                <c:pt idx="4">
                  <c:v>22</c:v>
                </c:pt>
                <c:pt idx="5">
                  <c:v>22</c:v>
                </c:pt>
                <c:pt idx="6">
                  <c:v>22</c:v>
                </c:pt>
                <c:pt idx="7">
                  <c:v>20</c:v>
                </c:pt>
                <c:pt idx="8">
                  <c:v>18</c:v>
                </c:pt>
                <c:pt idx="9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 descr="gid:1:0"/>
          <p:cNvSpPr txBox="1"/>
          <p:nvPr/>
        </p:nvSpPr>
        <p:spPr>
          <a:xfrm>
            <a:off x="428625" y="762000"/>
            <a:ext cx="965835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B Sans Display Semibold"/>
              </a:rPr>
              <a:t>Изменение климата в США, 2015–2024</a:t>
            </a:r>
          </a:p>
        </p:txBody>
      </p:sp>
      <p:sp>
        <p:nvSpPr>
          <p:cNvPr id="3" name="subtitle" descr="gid:1:1"/>
          <p:cNvSpPr txBox="1"/>
          <p:nvPr/>
        </p:nvSpPr>
        <p:spPr>
          <a:xfrm>
            <a:off x="457200" y="1428750"/>
            <a:ext cx="96583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>
                <a:solidFill>
                  <a:srgbClr val="62ECFF"/>
                </a:solidFill>
                <a:latin typeface="SB Sans Text"/>
              </a:rPr>
              <a:t>Температурная аномалия относительно нормы, °F · NASA GISS, NOAA NCEI</a:t>
            </a:r>
          </a:p>
        </p:txBody>
      </p:sp>
      <p:graphicFrame>
        <p:nvGraphicFramePr>
          <p:cNvPr id="4" name="temp-chart" descr="gid:1:2"/>
          <p:cNvGraphicFramePr>
            <a:graphicFrameLocks noGrp="1"/>
          </p:cNvGraphicFramePr>
          <p:nvPr/>
        </p:nvGraphicFramePr>
        <p:xfrm>
          <a:off x="457200" y="2000250"/>
          <a:ext cx="112776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" descr="gid:1:3"/>
          <p:cNvSpPr txBox="1"/>
          <p:nvPr/>
        </p:nvSpPr>
        <p:spPr>
          <a:xfrm>
            <a:off x="457200" y="5715000"/>
            <a:ext cx="11277600" cy="971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SB Sans Text"/>
              </a:rPr>
              <a:t>2024 — самый тёплый год в истории: </a:t>
            </a:r>
            <a:r>
              <a:rPr sz="1400" b="1">
                <a:solidFill>
                  <a:srgbClr val="56FF71"/>
                </a:solidFill>
                <a:latin typeface="SB Sans Text"/>
              </a:rPr>
              <a:t>+1,19°F</a:t>
            </a:r>
            <a:r>
              <a:rPr sz="1400">
                <a:solidFill>
                  <a:srgbClr val="FFFFFF"/>
                </a:solidFill>
                <a:latin typeface="SB Sans Text"/>
              </a:rPr>
              <a:t>. Все 10 лет в топе тёплых; средняя аномалия +0,99°F, накопленный рост +16,7%.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 descr="gid:2:0"/>
          <p:cNvSpPr txBox="1"/>
          <p:nvPr/>
        </p:nvSpPr>
        <p:spPr>
          <a:xfrm>
            <a:off x="428625" y="762000"/>
            <a:ext cx="104775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B Sans Display Semibold"/>
              </a:rPr>
              <a:t>Выбросы парниковых газов и экстремальные события</a:t>
            </a:r>
          </a:p>
        </p:txBody>
      </p:sp>
      <p:sp>
        <p:nvSpPr>
          <p:cNvPr id="3" name="subtitle" descr="gid:2:1"/>
          <p:cNvSpPr txBox="1"/>
          <p:nvPr/>
        </p:nvSpPr>
        <p:spPr>
          <a:xfrm>
            <a:off x="457200" y="1428750"/>
            <a:ext cx="104775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>
                <a:solidFill>
                  <a:srgbClr val="62ECFF"/>
                </a:solidFill>
                <a:latin typeface="SB Sans Text"/>
              </a:rPr>
              <a:t>MMT CO₂e (EPA) и число биллион-долларовых событий (NOAA NCEI)</a:t>
            </a:r>
          </a:p>
        </p:txBody>
      </p:sp>
      <p:graphicFrame>
        <p:nvGraphicFramePr>
          <p:cNvPr id="4" name="ghg-chart" descr="gid:2:2"/>
          <p:cNvGraphicFramePr>
            <a:graphicFrameLocks noGrp="1"/>
          </p:cNvGraphicFramePr>
          <p:nvPr/>
        </p:nvGraphicFramePr>
        <p:xfrm>
          <a:off x="457200" y="2047875"/>
          <a:ext cx="552450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events-chart" descr="gid:2:3"/>
          <p:cNvGraphicFramePr>
            <a:graphicFrameLocks noGrp="1"/>
          </p:cNvGraphicFramePr>
          <p:nvPr/>
        </p:nvGraphicFramePr>
        <p:xfrm>
          <a:off x="6286500" y="2047875"/>
          <a:ext cx="5524500" cy="32385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akeaway" descr="gid:2:4"/>
          <p:cNvSpPr txBox="1"/>
          <p:nvPr/>
        </p:nvSpPr>
        <p:spPr>
          <a:xfrm>
            <a:off x="457200" y="5619750"/>
            <a:ext cx="11277600" cy="12096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SB Sans Text"/>
              </a:rPr>
              <a:t>Выбросы −13,2% (Energy −20,5%), но </a:t>
            </a:r>
            <a:r>
              <a:rPr sz="1400" b="1">
                <a:solidFill>
                  <a:srgbClr val="FF3256"/>
                </a:solidFill>
                <a:latin typeface="SB Sans Text"/>
              </a:rPr>
              <a:t>196 экстремальных событий</a:t>
            </a:r>
            <a:r>
              <a:rPr sz="1400">
                <a:solidFill>
                  <a:srgbClr val="FFFFFF"/>
                </a:solidFill>
                <a:latin typeface="SB Sans Text"/>
              </a:rPr>
              <a:t> за 10 лет (19,6/год). Уровень моря +3,3″, экстремальные осадки +15,6%.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